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3ps8Zk88zdDfQcQC7kzj5rKa+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m.lari12@studenti.unipi.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DATA MINING &amp; MACHINE LEARNING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Loan Default Prediction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11480" y="214884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Data Mining &amp; Machine Learning Project </a:t>
            </a:r>
            <a:br>
              <a:rPr lang="en-US" sz="13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M.Sc. in Artificial Intelligence and Data Engineering — Academic Year 2025–2026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11480" y="2606040"/>
            <a:ext cx="8321040" cy="18288"/>
          </a:xfrm>
          <a:prstGeom prst="rect">
            <a:avLst/>
          </a:prstGeom>
          <a:solidFill>
            <a:srgbClr val="2E4A70"/>
          </a:solidFill>
          <a:ln cap="flat" cmpd="sng" w="12700">
            <a:solidFill>
              <a:srgbClr val="2E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Marco Lari — ID: 635737   |   Tommaso Pellegrini — ID: 635452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18/06/2025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11480" y="1225296"/>
            <a:ext cx="384048" cy="384048"/>
          </a:xfrm>
          <a:prstGeom prst="roundRect">
            <a:avLst>
              <a:gd fmla="val 14286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11480" y="12252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14400" y="12070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Problem &amp; Dataset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14400" y="145389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Task definition · features · EDA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76072" y="1609344"/>
            <a:ext cx="18288" cy="310896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11480" y="1956816"/>
            <a:ext cx="384048" cy="384048"/>
          </a:xfrm>
          <a:prstGeom prst="roundRect">
            <a:avLst>
              <a:gd fmla="val 14286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11480" y="19568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914400" y="193852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Pipeline &amp; Experiments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914400" y="218541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Preprocessing · model selection · hyperparameter optimization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138160" y="1993392"/>
            <a:ext cx="640080" cy="292608"/>
          </a:xfrm>
          <a:prstGeom prst="roundRect">
            <a:avLst>
              <a:gd fmla="val 18750" name="adj"/>
            </a:avLst>
          </a:prstGeom>
          <a:solidFill>
            <a:srgbClr val="EEF2FA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38160" y="199339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76072" y="2340864"/>
            <a:ext cx="18288" cy="310896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11480" y="2688336"/>
            <a:ext cx="384048" cy="384048"/>
          </a:xfrm>
          <a:prstGeom prst="roundRect">
            <a:avLst>
              <a:gd fmla="val 14286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11480" y="26883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14400" y="267004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Evaluation &amp; Results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914400" y="291693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Metrics · cross-validation · final model performance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76072" y="3072384"/>
            <a:ext cx="18288" cy="310896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11480" y="3419856"/>
            <a:ext cx="384048" cy="384048"/>
          </a:xfrm>
          <a:prstGeom prst="roundRect">
            <a:avLst>
              <a:gd fmla="val 14286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914400" y="340156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914400" y="364845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Global &amp; local techniques · consistency with domain knowledge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138160" y="3456432"/>
            <a:ext cx="640080" cy="292608"/>
          </a:xfrm>
          <a:prstGeom prst="roundRect">
            <a:avLst>
              <a:gd fmla="val 18750" name="adj"/>
            </a:avLst>
          </a:prstGeom>
          <a:solidFill>
            <a:srgbClr val="E0F5F4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138160" y="34564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F84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008F84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76072" y="3803904"/>
            <a:ext cx="18288" cy="310896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11480" y="4151376"/>
            <a:ext cx="384048" cy="384048"/>
          </a:xfrm>
          <a:prstGeom prst="roundRect">
            <a:avLst>
              <a:gd fmla="val 14286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11480" y="4151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14400" y="413308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Critical Discussion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14400" y="437997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Error analysis · limitations · future directions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PART 1 — TECHNICAL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11480" y="1828800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Problem, Pipeline &amp; Results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11480" y="278892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Problem definition · feature engineering · model selection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hyperparameter optimization · evaluation · test-set results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Problem Definition &amp; Dataset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11480" y="11704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11475" y="1481324"/>
            <a:ext cx="40692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Predict whether an applicant will default on a loan using structured borrower and loan information.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task is a binary classification problem with mixed numerical and categorical features.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Predicting default risk at the application stage allows lenders to price risk correctly, reduce credit losses, and allocate capital more efficiently.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main challenges are class imbalance, heterogeneous variables, and highly informative missingness patterns.</a:t>
            </a:r>
            <a:endParaRPr sz="11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63440" y="1115568"/>
            <a:ext cx="4069080" cy="2962656"/>
          </a:xfrm>
          <a:prstGeom prst="roundRect">
            <a:avLst>
              <a:gd fmla="val 308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828032" y="122529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Dataset at a Glance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663440" y="1572768"/>
            <a:ext cx="4069080" cy="26517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36592" y="160934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035040" y="1609344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Binary Classification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663440" y="1847088"/>
            <a:ext cx="406908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736592" y="188366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035040" y="1883664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Kaggle</a:t>
            </a: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, 148,670 samples, 34 features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663440" y="2121408"/>
            <a:ext cx="4069080" cy="26517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736592" y="215798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035040" y="2157984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Status ( 1 = loan default, 0 = no default)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663440" y="2395728"/>
            <a:ext cx="406908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736592" y="243230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035040" y="2432304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 numerical, 21 categorical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663440" y="2670048"/>
            <a:ext cx="4069080" cy="26517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736592" y="270662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035040" y="2706624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3.58 % overall, present in ~25% of 4 features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663440" y="2944368"/>
            <a:ext cx="406908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736592" y="298094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Class balance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035040" y="2980944"/>
            <a:ext cx="260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Imbalance</a:t>
            </a: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 – no default 75% / default 25%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663440" y="3218688"/>
            <a:ext cx="4069080" cy="26517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736592" y="325526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035040" y="3255264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Stratified nested CV (outer 5-fold / inner 3-fold)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663440" y="3493008"/>
            <a:ext cx="406908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736592" y="352958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Metric(s)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035040" y="3529584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AUC (primary), Recall, Balanced Accuracy, F1, FNR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11480" y="3736760"/>
            <a:ext cx="832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Key findings from EDA: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11475" y="3979347"/>
            <a:ext cx="83211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The target is heavily imbalanced. Defaults represent a minority, making accuracy a misleading metric and motivating the use of AUC, recall and balanced accuracy primarily. Weak linear correlations overall (no multicollinearity), supporting tree-based models that capture non-linear effects.</a:t>
            </a:r>
            <a:br>
              <a:rPr i="1"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Features like income that show right skew (mean far above median), justifying a log1p transformation for Naive Bayes. Some features like rate_of_interest, Upfront_charges, Interest_rate_spread, each one with ~25% of missing values (and others with less percentage), seem to be post-approval variables unavailable at decision time — including them would cause data leakage. Also credit_type, even though it has no missing values seems to be a post-approval variable.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6" title="status_distri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25" y="1188138"/>
            <a:ext cx="4069076" cy="2457750"/>
          </a:xfrm>
          <a:prstGeom prst="rect">
            <a:avLst/>
          </a:prstGeom>
          <a:solidFill>
            <a:srgbClr val="F0F4FA"/>
          </a:solidFill>
          <a:ln cap="flat" cmpd="sng" w="152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11" name="Google Shape;11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2400" y="162720"/>
            <a:ext cx="4454024" cy="3574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Feature Engineering &amp; Selection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fmla="val 2381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1627632"/>
            <a:ext cx="2377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log1p transformation on income to correct strong right skew in NB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StandardScaler on all numerical features (fitted on train fold only)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OneHotEncoder for all categorical features; term moved from numerical to categorical in NB.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 imputation for numericals; mode imputation for categoricals; ~200 rows with structurally missing values dropped.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fmla="val 23810" name="adj"/>
            </a:avLst>
          </a:prstGeom>
          <a:solidFill>
            <a:srgbClr val="008F84"/>
          </a:solidFill>
          <a:ln cap="flat" cmpd="sng" w="12700">
            <a:solidFill>
              <a:srgbClr val="008F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008F84"/>
          </a:solidFill>
          <a:ln cap="flat" cmpd="sng" w="12700">
            <a:solidFill>
              <a:srgbClr val="008F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 Method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383280" y="1627632"/>
            <a:ext cx="2377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Manual domain-driven removal (no automated wrapper/filter)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Criterion: leakage detection (post-approval features), redundancy very high-missingness in positive class (&gt;40%), constant values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Decisions validated by checking missing-value contingency vs. target and cross-referencing domain knowledge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26 features retained from original 34 (8 dropped: 5 leakage + 3 useless/redundant)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fmla="val 23810" name="adj"/>
            </a:avLst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These Features?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217920" y="1627632"/>
            <a:ext cx="2377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Upfront_charges, rate_of_interest, Interest_rate_spread are informations about the loan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LTV and property_value are information about the applicant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rate_of_interest, Upfront_charges, Interest_rate_sprea, credit_type (set after approval — leakage); 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LTV, property_value (&gt;40% of missing); ID, year (no predictive value)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transformations wrapped in sklearn Pipeline preventing any leakage by construction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ML Pipeline: Avoiding Data Leakage &amp; Bias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65760" y="1207008"/>
            <a:ext cx="1261872" cy="749808"/>
          </a:xfrm>
          <a:prstGeom prst="roundRect">
            <a:avLst>
              <a:gd fmla="val 10976" name="adj"/>
            </a:avLst>
          </a:prstGeom>
          <a:solidFill>
            <a:srgbClr val="4A6587"/>
          </a:solidFill>
          <a:ln cap="flat" cmpd="sng" w="12700">
            <a:solidFill>
              <a:srgbClr val="4A6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65760" y="120700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627632" y="1545336"/>
            <a:ext cx="173736" cy="73152"/>
          </a:xfrm>
          <a:prstGeom prst="rect">
            <a:avLst/>
          </a:prstGeom>
          <a:solidFill>
            <a:srgbClr val="7A8FA6"/>
          </a:solidFill>
          <a:ln cap="flat" cmpd="sng" w="1270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700784" y="147218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801368" y="1207008"/>
            <a:ext cx="1261872" cy="749808"/>
          </a:xfrm>
          <a:prstGeom prst="roundRect">
            <a:avLst>
              <a:gd fmla="val 10976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801368" y="120700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063240" y="1545336"/>
            <a:ext cx="173736" cy="73152"/>
          </a:xfrm>
          <a:prstGeom prst="rect">
            <a:avLst/>
          </a:prstGeom>
          <a:solidFill>
            <a:srgbClr val="7A8FA6"/>
          </a:solidFill>
          <a:ln cap="flat" cmpd="sng" w="1270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136392" y="147218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236976" y="1207008"/>
            <a:ext cx="1261872" cy="749808"/>
          </a:xfrm>
          <a:prstGeom prst="roundRect">
            <a:avLst>
              <a:gd fmla="val 10976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236976" y="120700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498848" y="1545336"/>
            <a:ext cx="173736" cy="73152"/>
          </a:xfrm>
          <a:prstGeom prst="rect">
            <a:avLst/>
          </a:prstGeom>
          <a:solidFill>
            <a:srgbClr val="7A8FA6"/>
          </a:solidFill>
          <a:ln cap="flat" cmpd="sng" w="1270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0" y="147218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672584" y="1207008"/>
            <a:ext cx="1261872" cy="749808"/>
          </a:xfrm>
          <a:prstGeom prst="roundRect">
            <a:avLst>
              <a:gd fmla="val 10976" name="adj"/>
            </a:avLst>
          </a:prstGeom>
          <a:solidFill>
            <a:srgbClr val="008F84"/>
          </a:solidFill>
          <a:ln cap="flat" cmpd="sng" w="12700">
            <a:solidFill>
              <a:srgbClr val="008F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672584" y="120700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934456" y="1545336"/>
            <a:ext cx="173736" cy="73152"/>
          </a:xfrm>
          <a:prstGeom prst="rect">
            <a:avLst/>
          </a:prstGeom>
          <a:solidFill>
            <a:srgbClr val="7A8FA6"/>
          </a:solidFill>
          <a:ln cap="flat" cmpd="sng" w="1270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007608" y="147218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108192" y="1207008"/>
            <a:ext cx="1261872" cy="749808"/>
          </a:xfrm>
          <a:prstGeom prst="roundRect">
            <a:avLst>
              <a:gd fmla="val 10976" name="adj"/>
            </a:avLst>
          </a:prstGeom>
          <a:solidFill>
            <a:srgbClr val="008F84"/>
          </a:solidFill>
          <a:ln cap="flat" cmpd="sng" w="12700">
            <a:solidFill>
              <a:srgbClr val="008F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108192" y="120700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(held-out fold)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370064" y="1545336"/>
            <a:ext cx="173736" cy="73152"/>
          </a:xfrm>
          <a:prstGeom prst="rect">
            <a:avLst/>
          </a:prstGeom>
          <a:solidFill>
            <a:srgbClr val="7A8FA6"/>
          </a:solidFill>
          <a:ln cap="flat" cmpd="sng" w="1270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443216" y="147218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543800" y="1207008"/>
            <a:ext cx="1261872" cy="749808"/>
          </a:xfrm>
          <a:prstGeom prst="roundRect">
            <a:avLst>
              <a:gd fmla="val 10976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543800" y="120700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11480" y="2121408"/>
            <a:ext cx="2651760" cy="26517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39496" y="2231136"/>
            <a:ext cx="2395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Data Leakage Prevention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39496" y="2578608"/>
            <a:ext cx="2395728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preprocessing fitted only on training folds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sklearn Pipeline: ColumnTransformer (numerical branch: imputer → log1p (NB) → scaler; categorical branch: imputer → OHE) → classifier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Pipeline.fit() called exclusively on the inner training fold in each CV iteration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246120" y="2121408"/>
            <a:ext cx="2651760" cy="26517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374136" y="2231136"/>
            <a:ext cx="2395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Class Imbalance Handling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374136" y="2578608"/>
            <a:ext cx="2395728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class_weight=“balanced” for Logistic Regression, Decision Tree, and Random Forest; no SMOTE (avoids oversampling leakage)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class_weight is a model parameter — no data transformation, so no risk of leakage across folds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AUC,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Recall,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Balanced Accuracy, F1, FPR, FNR — all threshold-independent or class-weighted to avoid accuracy inflation on imbalanced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080760" y="2121408"/>
            <a:ext cx="2651760" cy="26517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208776" y="2231136"/>
            <a:ext cx="2395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Metric Justification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208776" y="2578608"/>
            <a:ext cx="2395728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AUC — measures discrimination ability across all thresholds; robust to class imbalance, also used for ranking quality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FN (missed default) = full loan loss exposure; FP (rejected solvent borrower) = lost interest revenue </a:t>
            </a:r>
            <a:b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FN cost is typically higher, motivating high-recall operation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Precision, Balanced Accuracy F1, and FNR reported per fold to give a complete picture of the trade-off across all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Model Selection &amp; Hyperparameter Optimization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Key Decisions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663440" y="1508760"/>
            <a:ext cx="4069080" cy="2834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736592" y="155448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Candidate models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263640" y="1549905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LogReg, Naive Bayes, Decision Tree, Random Forest, AdaBoost, Gradient Boosting</a:t>
            </a:r>
            <a:endParaRPr sz="95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663440" y="1810512"/>
            <a:ext cx="4069080" cy="283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736592" y="18562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CV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263640" y="185623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Stratified Nested CV: outer 5-fold, inner 3-fold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663440" y="2112264"/>
            <a:ext cx="4069080" cy="2834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736592" y="215798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Selection criterion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263640" y="215798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AUC (scoring) + Wilcoxon test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63440" y="2414016"/>
            <a:ext cx="4069080" cy="283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736592" y="245973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Chosen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263640" y="245973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Decision Tree (no significant diff. from RF — parsimony)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663440" y="2715768"/>
            <a:ext cx="4069080" cy="2834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736592" y="27614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Search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263640" y="27614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RandomizedSearchCV, then local GridSearchCV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663440" y="3017520"/>
            <a:ext cx="4069080" cy="283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736592" y="30632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Search space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263640" y="30632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max_depth, min_samples_leaf, criterion, class_weight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663440" y="3319272"/>
            <a:ext cx="4069080" cy="2834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736592" y="33649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Best config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263640" y="336499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13, 88, entropy, None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663440" y="3621024"/>
            <a:ext cx="4069080" cy="283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736592" y="36667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Statistical test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263640" y="366674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Wilcoxon (RF vs DT vs GB): p = 0.0625 &gt; 0.05 (n.s.)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9" title="stability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50" y="1032859"/>
            <a:ext cx="3929675" cy="20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 title="7f2f8e51-dc8e-4e6e-95ce-4d81b43bf79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450" y="2962650"/>
            <a:ext cx="3217879" cy="20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Final model performance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Primary result figure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Classification: confusion matrix  |  Regression: predicted vs. actual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Forecasting: actual vs. predicted time series  |  Clustering: 2D projection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11480" y="37033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Key Metrics (Test Set)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11480" y="4005072"/>
            <a:ext cx="1938528" cy="877824"/>
          </a:xfrm>
          <a:prstGeom prst="roundRect">
            <a:avLst>
              <a:gd fmla="val 10417" name="adj"/>
            </a:avLst>
          </a:prstGeom>
          <a:solidFill>
            <a:srgbClr val="F0F4F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11480" y="4078224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0.855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11480" y="453542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514600" y="4005072"/>
            <a:ext cx="1938528" cy="877824"/>
          </a:xfrm>
          <a:prstGeom prst="roundRect">
            <a:avLst>
              <a:gd fmla="val 10417" name="adj"/>
            </a:avLst>
          </a:prstGeom>
          <a:solidFill>
            <a:srgbClr val="F0F4F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514600" y="4078224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0.679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2514600" y="453542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617720" y="4005072"/>
            <a:ext cx="1938528" cy="877824"/>
          </a:xfrm>
          <a:prstGeom prst="roundRect">
            <a:avLst>
              <a:gd fmla="val 10417" name="adj"/>
            </a:avLst>
          </a:prstGeom>
          <a:solidFill>
            <a:srgbClr val="F0F4F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617720" y="4078224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0.784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617720" y="453542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Balanced Acc.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720840" y="4005072"/>
            <a:ext cx="1938528" cy="877824"/>
          </a:xfrm>
          <a:prstGeom prst="roundRect">
            <a:avLst>
              <a:gd fmla="val 10417" name="adj"/>
            </a:avLst>
          </a:prstGeom>
          <a:solidFill>
            <a:srgbClr val="F0F4F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720840" y="4078224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0.320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720840" y="453542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FNR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0" title="7094a930-bfa5-42fe-8067-e61b286782b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374" y="1022676"/>
            <a:ext cx="3060174" cy="25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" title="e65662e8-627d-4af1-ac9a-65391719be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975" y="1022675"/>
            <a:ext cx="3442431" cy="25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PART 2 — CRITICAL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11480" y="1828800"/>
            <a:ext cx="8321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Explainability &amp;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Discussion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How does the model work? · What did it get wrong and why?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Limitations · future directions · domain impact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Global Explainability: What Drives the Model Overall?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663450" y="1508750"/>
            <a:ext cx="4069200" cy="23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SHAP TreeExplainer, exact (not approximate). SHAP values for tree-based models; computationally efficient and theoretically grounded in cooperative game theory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drivers are dtir1 (debt-to-income ratio), income and applicant_credit_type — fully consistent with standard credit risk practice and risk factors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counterintuitive results: features follow solid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financial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logic: high-income reduces risk, while high dtir1 increases it significantly.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explanation fully supports model performance: features with highest SHAP magnitude are those domain experts consider most predictive — the model has learned a meaningful signal, not noise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2" title="cdf4496b-2cc1-476e-a7b8-f7d8b4af22d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300" y="986100"/>
            <a:ext cx="3620700" cy="21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2" title="17d3ff16-d78d-4dd2-b95e-2a291c99ece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725" y="3192750"/>
            <a:ext cx="3195851" cy="172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Local Explainability: Why This Specific Prediction?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Case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663450" y="1508746"/>
            <a:ext cx="40692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first image represents a default, correctly classified.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default prediction is driven mainly by the high dtir1 and the low income. The presence of a payment in a single solution (lump_sum_payment_lpsm) also increased the risk.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local explanation is in line with the global model: dtir1 and income are confirmed as the most decisive variables in guiding the algorithm's decision. Even if in this case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lump_sum_payment_lpsm assumes more importance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Fully consistent with the logic of credit: a customer with a low income and a high load of pre-existing debts (high ditr1), represents a high risk of insolvency for the bank.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second image shows a default, classified by the model as a non-default, a False Negative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3" title="0db0ae9f-ba1c-40ed-ba74-f977630f8df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950" y="1097276"/>
            <a:ext cx="3128425" cy="18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3" title="fc845c0f-d2e7-4cae-92b3-93dc060013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950" y="2952425"/>
            <a:ext cx="3128426" cy="208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DISCUSSION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Error Analysis: What Did the Model Get Wrong and Why?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Reverse-Engineering Errors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411480" y="3703320"/>
            <a:ext cx="8321100" cy="1170300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594360" y="3794760"/>
            <a:ext cx="795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Comparison with Prior Work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594360" y="4078224"/>
            <a:ext cx="795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Kaggle notebook on this same dataset report &gt;90% accuracy or AUC, seemingly above our Decision Tree. We detected and removed post-approval leakage features that such notebooks typically retain. The numbers are therefore not directly comparable. </a:t>
            </a:r>
            <a:endParaRPr sz="105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14" title="8c9ade02-a240-43dd-9e84-ed75bbe2f8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50" y="1097275"/>
            <a:ext cx="4069075" cy="242746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/>
          <p:nvPr/>
        </p:nvSpPr>
        <p:spPr>
          <a:xfrm>
            <a:off x="4663440" y="1508760"/>
            <a:ext cx="4069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Dominant misclassified pattern is FN, they are not random.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dtir1 dominates: debt-to-income wrongly pulls FN toward "no default".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Representative FN is dominated by a favourable dtir1 that masks the underlying risk. Symmetrically, representative FP is driven almost entirely by  the same feature in opposite direction. Model over-relies on 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dtir is a legitimate primary risk signal. Hard cases where true risk diverges from dtir1.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FN ≫ FP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Errors load on the same few features — a coverage gap (missing LTV), not noise.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fmla="val 22222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DISCUSSION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Domain Impact, Limitations &amp; Future Directions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fmla="val 23810" name="adj"/>
            </a:avLst>
          </a:prstGeom>
          <a:solidFill>
            <a:srgbClr val="008F84"/>
          </a:solidFill>
          <a:ln cap="flat" cmpd="sng" w="12700">
            <a:solidFill>
              <a:srgbClr val="008F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008F84"/>
          </a:solidFill>
          <a:ln cap="flat" cmpd="sng" w="12700">
            <a:solidFill>
              <a:srgbClr val="008F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Domain Impact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39496" y="1627632"/>
            <a:ext cx="2377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Integrated into a loan officer’s decision dashboard — flags high-risk applications for manual review rather than making fully automated rejections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loan approval, risk-based pricing, and capital allocation decisions; a calibrated probability output would enable tiered interest rates instead of binary accept/reject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FN (missed default) &gt;&gt; FP (rejected solvent borrower) in financial cost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Since the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have a very low FPR, it can serve as a skimming of customers to be checked again later. Not reliable to be used alone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fmla="val 23810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3374136" y="1627632"/>
            <a:ext cx="2377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timestamp in the dataset — temporal drift is undetectable; static training cannot adapt to macroeconomic shocks such as interest rate changes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LTV and property_value (two strong credit-risk predictors) dropped due to &gt;40% missingness. Also other fundamental features in financials dropped due to probable data leakage. Their absence likely caps model performance.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 Tree assumes axis-aligned splits. It may miss interaction effects other methods would capture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Evaluation on a single dataset, with no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test. 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fmla="val 23810" name="adj"/>
            </a:avLst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6208776" y="1627632"/>
            <a:ext cx="2377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Collect and restore the most information-rich credit-risk features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Introduce walk-forward (time-aware) cross-validation to simulate deployment and detect temporal drift early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Although Random Forest was not statistically superior here (Wilcoxon p = 0.0625), calibrated ensembles or gradient boosting on an enriched feature set may pay off.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Pilot deployment with human-in-the-loop feedback to monitor live FN/FP rates and recalibrate the decision threshold against realised default costs.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11480" y="182880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Conclusions: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411480" y="2148840"/>
            <a:ext cx="8321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to predict loan default (binary classification), handling class imbalance and high number of missing values.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Decision Tree was selected via nested 5×3 cross-validation; the Wilcoxon test showed no significant difference from Random Forest, so parsimony favoured the simpler, more interpretable model. AUC 0.855, BAcc 0.784, recall 0.679.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revealed the model leans heavily on dtir1 (debt-to-income): the same feature drives both error types in opposite directions, and FN far outnumber FP (81). Model rarely cries wolf but misses harder-to-spot defaults.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Possibly stronger predictors LTV and property_value dropped (&gt;40% missing); recovering them, plus time-aware validation and a fairness audit, is the priority next step.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11480" y="3703320"/>
            <a:ext cx="8321040" cy="13716"/>
          </a:xfrm>
          <a:prstGeom prst="rect">
            <a:avLst/>
          </a:prstGeom>
          <a:solidFill>
            <a:srgbClr val="2E4A70"/>
          </a:solidFill>
          <a:ln cap="flat" cmpd="sng" w="12700">
            <a:solidFill>
              <a:srgbClr val="2E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8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Marco Lari</a:t>
            </a:r>
            <a:r>
              <a:rPr lang="en-US" sz="10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  ·   </a:t>
            </a:r>
            <a:r>
              <a:rPr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m.lari12@studenti.unipi.it</a:t>
            </a:r>
            <a:r>
              <a:rPr lang="en-US" sz="1050">
                <a:solidFill>
                  <a:srgbClr val="4A6587"/>
                </a:solidFill>
                <a:latin typeface="Calibri"/>
                <a:ea typeface="Calibri"/>
                <a:cs typeface="Calibri"/>
                <a:sym typeface="Calibri"/>
              </a:rPr>
              <a:t>  –  Tommaso Pellegrini  ·  t.pellegrini3@studenti.unipi.it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411480" y="4160520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2026-05-31T14:27:00Z</dcterms:created>
  <dc:creator>PptxGenJS</dc:creator>
</cp:coreProperties>
</file>